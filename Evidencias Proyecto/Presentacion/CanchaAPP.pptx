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Raleway" charset="1" panose="020B0503030101060003"/>
      <p:regular r:id="rId20"/>
    </p:embeddedFont>
    <p:embeddedFont>
      <p:font typeface="Raleway Bold" charset="1" panose="020B0803030101060003"/>
      <p:regular r:id="rId21"/>
    </p:embeddedFont>
    <p:embeddedFont>
      <p:font typeface="Open Sans 1 Bold" charset="1" panose="020B0806030504020204"/>
      <p:regular r:id="rId22"/>
    </p:embeddedFont>
    <p:embeddedFont>
      <p:font typeface="Open Sans 2" charset="1" panose="00000000000000000000"/>
      <p:regular r:id="rId23"/>
    </p:embeddedFont>
    <p:embeddedFont>
      <p:font typeface="Assistant" charset="1" panose="00000500000000000000"/>
      <p:regular r:id="rId24"/>
    </p:embeddedFont>
    <p:embeddedFont>
      <p:font typeface="DM Sans Bold" charset="1" panose="00000000000000000000"/>
      <p:regular r:id="rId25"/>
    </p:embeddedFont>
    <p:embeddedFont>
      <p:font typeface="Open Sans 1" charset="1" panose="020B0606030504020204"/>
      <p:regular r:id="rId26"/>
    </p:embeddedFont>
    <p:embeddedFont>
      <p:font typeface="Assistant Bold" charset="1" panose="00000800000000000000"/>
      <p:regular r:id="rId27"/>
    </p:embeddedFont>
    <p:embeddedFont>
      <p:font typeface="The Seasons 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VAG6-LRHI-4.mp4" Type="http://schemas.openxmlformats.org/officeDocument/2006/relationships/video"/><Relationship Id="rId4" Target="../media/VAG6-LRHI-4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jpeg" Type="http://schemas.openxmlformats.org/officeDocument/2006/relationships/image"/><Relationship Id="rId7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jpeg" Type="http://schemas.openxmlformats.org/officeDocument/2006/relationships/image"/><Relationship Id="rId4" Target="../media/image11.png" Type="http://schemas.openxmlformats.org/officeDocument/2006/relationships/image"/><Relationship Id="rId5" Target="../media/image16.jpe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789943" y="1281225"/>
            <a:ext cx="13284470" cy="8743596"/>
          </a:xfrm>
          <a:custGeom>
            <a:avLst/>
            <a:gdLst/>
            <a:ahLst/>
            <a:cxnLst/>
            <a:rect r="r" b="b" t="t" l="l"/>
            <a:pathLst>
              <a:path h="8743596" w="13284470">
                <a:moveTo>
                  <a:pt x="13284470" y="0"/>
                </a:moveTo>
                <a:lnTo>
                  <a:pt x="0" y="0"/>
                </a:lnTo>
                <a:lnTo>
                  <a:pt x="0" y="8743596"/>
                </a:lnTo>
                <a:lnTo>
                  <a:pt x="13284470" y="8743596"/>
                </a:lnTo>
                <a:lnTo>
                  <a:pt x="132844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3450" y="4154803"/>
            <a:ext cx="7929425" cy="1547571"/>
            <a:chOff x="0" y="0"/>
            <a:chExt cx="1458095" cy="2845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58095" cy="284574"/>
            </a:xfrm>
            <a:custGeom>
              <a:avLst/>
              <a:gdLst/>
              <a:ahLst/>
              <a:cxnLst/>
              <a:rect r="r" b="b" t="t" l="l"/>
              <a:pathLst>
                <a:path h="284574" w="1458095">
                  <a:moveTo>
                    <a:pt x="73226" y="0"/>
                  </a:moveTo>
                  <a:lnTo>
                    <a:pt x="1384868" y="0"/>
                  </a:lnTo>
                  <a:cubicBezTo>
                    <a:pt x="1425310" y="0"/>
                    <a:pt x="1458095" y="32785"/>
                    <a:pt x="1458095" y="73226"/>
                  </a:cubicBezTo>
                  <a:lnTo>
                    <a:pt x="1458095" y="211347"/>
                  </a:lnTo>
                  <a:cubicBezTo>
                    <a:pt x="1458095" y="230768"/>
                    <a:pt x="1450380" y="249393"/>
                    <a:pt x="1436647" y="263126"/>
                  </a:cubicBezTo>
                  <a:cubicBezTo>
                    <a:pt x="1422914" y="276859"/>
                    <a:pt x="1404289" y="284574"/>
                    <a:pt x="1384868" y="284574"/>
                  </a:cubicBezTo>
                  <a:lnTo>
                    <a:pt x="73226" y="284574"/>
                  </a:lnTo>
                  <a:cubicBezTo>
                    <a:pt x="32785" y="284574"/>
                    <a:pt x="0" y="251789"/>
                    <a:pt x="0" y="211347"/>
                  </a:cubicBezTo>
                  <a:lnTo>
                    <a:pt x="0" y="73226"/>
                  </a:lnTo>
                  <a:cubicBezTo>
                    <a:pt x="0" y="32785"/>
                    <a:pt x="32785" y="0"/>
                    <a:pt x="73226" y="0"/>
                  </a:cubicBezTo>
                  <a:close/>
                </a:path>
              </a:pathLst>
            </a:custGeom>
            <a:solidFill>
              <a:srgbClr val="2821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458095" cy="370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59"/>
                </a:lnSpc>
                <a:spcBef>
                  <a:spcPct val="0"/>
                </a:spcBef>
              </a:pPr>
              <a:r>
                <a:rPr lang="en-US" sz="4399" spc="316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LA RED SOCIAL DEPORTIVA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-5400000">
            <a:off x="174709" y="223719"/>
            <a:ext cx="413361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3031383">
            <a:off x="-1990177" y="7967861"/>
            <a:ext cx="5224781" cy="5629394"/>
          </a:xfrm>
          <a:custGeom>
            <a:avLst/>
            <a:gdLst/>
            <a:ahLst/>
            <a:cxnLst/>
            <a:rect r="r" b="b" t="t" l="l"/>
            <a:pathLst>
              <a:path h="5629394" w="5224781">
                <a:moveTo>
                  <a:pt x="0" y="0"/>
                </a:moveTo>
                <a:lnTo>
                  <a:pt x="5224781" y="0"/>
                </a:lnTo>
                <a:lnTo>
                  <a:pt x="5224781" y="5629394"/>
                </a:lnTo>
                <a:lnTo>
                  <a:pt x="0" y="562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-5400000">
            <a:off x="-88895" y="7975637"/>
            <a:ext cx="45846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7963758">
            <a:off x="14836003" y="-3325366"/>
            <a:ext cx="5224781" cy="5629394"/>
          </a:xfrm>
          <a:custGeom>
            <a:avLst/>
            <a:gdLst/>
            <a:ahLst/>
            <a:cxnLst/>
            <a:rect r="r" b="b" t="t" l="l"/>
            <a:pathLst>
              <a:path h="5629394" w="5224781">
                <a:moveTo>
                  <a:pt x="0" y="0"/>
                </a:moveTo>
                <a:lnTo>
                  <a:pt x="5224782" y="0"/>
                </a:lnTo>
                <a:lnTo>
                  <a:pt x="5224782" y="5629395"/>
                </a:lnTo>
                <a:lnTo>
                  <a:pt x="0" y="5629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382182" y="1853506"/>
            <a:ext cx="12499683" cy="26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37"/>
              </a:lnSpc>
            </a:pPr>
            <a:r>
              <a:rPr lang="en-US" b="true" sz="15606" spc="1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CanchaAPP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268474" y="2423794"/>
            <a:ext cx="11751052" cy="660996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434459" y="645456"/>
            <a:ext cx="741908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Video Trailer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-937720" y="6708058"/>
            <a:ext cx="711978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-5400000">
            <a:off x="-268969" y="-1334050"/>
            <a:ext cx="58394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083859" y="3385881"/>
            <a:ext cx="5541726" cy="2853989"/>
          </a:xfrm>
          <a:custGeom>
            <a:avLst/>
            <a:gdLst/>
            <a:ahLst/>
            <a:cxnLst/>
            <a:rect r="r" b="b" t="t" l="l"/>
            <a:pathLst>
              <a:path h="2853989" w="5541726">
                <a:moveTo>
                  <a:pt x="0" y="0"/>
                </a:moveTo>
                <a:lnTo>
                  <a:pt x="5541726" y="0"/>
                </a:lnTo>
                <a:lnTo>
                  <a:pt x="5541726" y="2853989"/>
                </a:lnTo>
                <a:lnTo>
                  <a:pt x="0" y="2853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00315" y="3167216"/>
            <a:ext cx="3308814" cy="629181"/>
            <a:chOff x="0" y="0"/>
            <a:chExt cx="812800" cy="154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54556"/>
            </a:xfrm>
            <a:custGeom>
              <a:avLst/>
              <a:gdLst/>
              <a:ahLst/>
              <a:cxnLst/>
              <a:rect r="r" b="b" t="t" l="l"/>
              <a:pathLst>
                <a:path h="154556" w="812800">
                  <a:moveTo>
                    <a:pt x="67854" y="0"/>
                  </a:moveTo>
                  <a:lnTo>
                    <a:pt x="744946" y="0"/>
                  </a:lnTo>
                  <a:cubicBezTo>
                    <a:pt x="762942" y="0"/>
                    <a:pt x="780201" y="7149"/>
                    <a:pt x="792926" y="19874"/>
                  </a:cubicBezTo>
                  <a:cubicBezTo>
                    <a:pt x="805651" y="32599"/>
                    <a:pt x="812800" y="49858"/>
                    <a:pt x="812800" y="67854"/>
                  </a:cubicBezTo>
                  <a:lnTo>
                    <a:pt x="812800" y="86703"/>
                  </a:lnTo>
                  <a:cubicBezTo>
                    <a:pt x="812800" y="104699"/>
                    <a:pt x="805651" y="121957"/>
                    <a:pt x="792926" y="134682"/>
                  </a:cubicBezTo>
                  <a:cubicBezTo>
                    <a:pt x="780201" y="147408"/>
                    <a:pt x="762942" y="154556"/>
                    <a:pt x="744946" y="154556"/>
                  </a:cubicBezTo>
                  <a:lnTo>
                    <a:pt x="67854" y="154556"/>
                  </a:lnTo>
                  <a:cubicBezTo>
                    <a:pt x="49858" y="154556"/>
                    <a:pt x="32599" y="147408"/>
                    <a:pt x="19874" y="134682"/>
                  </a:cubicBezTo>
                  <a:cubicBezTo>
                    <a:pt x="7149" y="121957"/>
                    <a:pt x="0" y="104699"/>
                    <a:pt x="0" y="86703"/>
                  </a:cubicBezTo>
                  <a:lnTo>
                    <a:pt x="0" y="67854"/>
                  </a:lnTo>
                  <a:cubicBezTo>
                    <a:pt x="0" y="49858"/>
                    <a:pt x="7149" y="32599"/>
                    <a:pt x="19874" y="19874"/>
                  </a:cubicBezTo>
                  <a:cubicBezTo>
                    <a:pt x="32599" y="7149"/>
                    <a:pt x="49858" y="0"/>
                    <a:pt x="6785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211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CONCEPTO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060156" y="3385881"/>
            <a:ext cx="5541726" cy="2853989"/>
          </a:xfrm>
          <a:custGeom>
            <a:avLst/>
            <a:gdLst/>
            <a:ahLst/>
            <a:cxnLst/>
            <a:rect r="r" b="b" t="t" l="l"/>
            <a:pathLst>
              <a:path h="2853989" w="5541726">
                <a:moveTo>
                  <a:pt x="0" y="0"/>
                </a:moveTo>
                <a:lnTo>
                  <a:pt x="5541725" y="0"/>
                </a:lnTo>
                <a:lnTo>
                  <a:pt x="5541725" y="2853989"/>
                </a:lnTo>
                <a:lnTo>
                  <a:pt x="0" y="2853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176612" y="3167216"/>
            <a:ext cx="3308814" cy="629181"/>
            <a:chOff x="0" y="0"/>
            <a:chExt cx="812800" cy="1545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54556"/>
            </a:xfrm>
            <a:custGeom>
              <a:avLst/>
              <a:gdLst/>
              <a:ahLst/>
              <a:cxnLst/>
              <a:rect r="r" b="b" t="t" l="l"/>
              <a:pathLst>
                <a:path h="154556" w="812800">
                  <a:moveTo>
                    <a:pt x="67854" y="0"/>
                  </a:moveTo>
                  <a:lnTo>
                    <a:pt x="744946" y="0"/>
                  </a:lnTo>
                  <a:cubicBezTo>
                    <a:pt x="762942" y="0"/>
                    <a:pt x="780201" y="7149"/>
                    <a:pt x="792926" y="19874"/>
                  </a:cubicBezTo>
                  <a:cubicBezTo>
                    <a:pt x="805651" y="32599"/>
                    <a:pt x="812800" y="49858"/>
                    <a:pt x="812800" y="67854"/>
                  </a:cubicBezTo>
                  <a:lnTo>
                    <a:pt x="812800" y="86703"/>
                  </a:lnTo>
                  <a:cubicBezTo>
                    <a:pt x="812800" y="104699"/>
                    <a:pt x="805651" y="121957"/>
                    <a:pt x="792926" y="134682"/>
                  </a:cubicBezTo>
                  <a:cubicBezTo>
                    <a:pt x="780201" y="147408"/>
                    <a:pt x="762942" y="154556"/>
                    <a:pt x="744946" y="154556"/>
                  </a:cubicBezTo>
                  <a:lnTo>
                    <a:pt x="67854" y="154556"/>
                  </a:lnTo>
                  <a:cubicBezTo>
                    <a:pt x="49858" y="154556"/>
                    <a:pt x="32599" y="147408"/>
                    <a:pt x="19874" y="134682"/>
                  </a:cubicBezTo>
                  <a:cubicBezTo>
                    <a:pt x="7149" y="121957"/>
                    <a:pt x="0" y="104699"/>
                    <a:pt x="0" y="86703"/>
                  </a:cubicBezTo>
                  <a:lnTo>
                    <a:pt x="0" y="67854"/>
                  </a:lnTo>
                  <a:cubicBezTo>
                    <a:pt x="0" y="49858"/>
                    <a:pt x="7149" y="32599"/>
                    <a:pt x="19874" y="19874"/>
                  </a:cubicBezTo>
                  <a:cubicBezTo>
                    <a:pt x="32599" y="7149"/>
                    <a:pt x="49858" y="0"/>
                    <a:pt x="6785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12800" cy="211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MISIÓN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083859" y="6458535"/>
            <a:ext cx="5541726" cy="2853989"/>
          </a:xfrm>
          <a:custGeom>
            <a:avLst/>
            <a:gdLst/>
            <a:ahLst/>
            <a:cxnLst/>
            <a:rect r="r" b="b" t="t" l="l"/>
            <a:pathLst>
              <a:path h="2853989" w="5541726">
                <a:moveTo>
                  <a:pt x="0" y="0"/>
                </a:moveTo>
                <a:lnTo>
                  <a:pt x="5541726" y="0"/>
                </a:lnTo>
                <a:lnTo>
                  <a:pt x="5541726" y="2853989"/>
                </a:lnTo>
                <a:lnTo>
                  <a:pt x="0" y="2853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200315" y="6239870"/>
            <a:ext cx="3308814" cy="629181"/>
            <a:chOff x="0" y="0"/>
            <a:chExt cx="812800" cy="154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54556"/>
            </a:xfrm>
            <a:custGeom>
              <a:avLst/>
              <a:gdLst/>
              <a:ahLst/>
              <a:cxnLst/>
              <a:rect r="r" b="b" t="t" l="l"/>
              <a:pathLst>
                <a:path h="154556" w="812800">
                  <a:moveTo>
                    <a:pt x="67854" y="0"/>
                  </a:moveTo>
                  <a:lnTo>
                    <a:pt x="744946" y="0"/>
                  </a:lnTo>
                  <a:cubicBezTo>
                    <a:pt x="762942" y="0"/>
                    <a:pt x="780201" y="7149"/>
                    <a:pt x="792926" y="19874"/>
                  </a:cubicBezTo>
                  <a:cubicBezTo>
                    <a:pt x="805651" y="32599"/>
                    <a:pt x="812800" y="49858"/>
                    <a:pt x="812800" y="67854"/>
                  </a:cubicBezTo>
                  <a:lnTo>
                    <a:pt x="812800" y="86703"/>
                  </a:lnTo>
                  <a:cubicBezTo>
                    <a:pt x="812800" y="104699"/>
                    <a:pt x="805651" y="121957"/>
                    <a:pt x="792926" y="134682"/>
                  </a:cubicBezTo>
                  <a:cubicBezTo>
                    <a:pt x="780201" y="147408"/>
                    <a:pt x="762942" y="154556"/>
                    <a:pt x="744946" y="154556"/>
                  </a:cubicBezTo>
                  <a:lnTo>
                    <a:pt x="67854" y="154556"/>
                  </a:lnTo>
                  <a:cubicBezTo>
                    <a:pt x="49858" y="154556"/>
                    <a:pt x="32599" y="147408"/>
                    <a:pt x="19874" y="134682"/>
                  </a:cubicBezTo>
                  <a:cubicBezTo>
                    <a:pt x="7149" y="121957"/>
                    <a:pt x="0" y="104699"/>
                    <a:pt x="0" y="86703"/>
                  </a:cubicBezTo>
                  <a:lnTo>
                    <a:pt x="0" y="67854"/>
                  </a:lnTo>
                  <a:cubicBezTo>
                    <a:pt x="0" y="49858"/>
                    <a:pt x="7149" y="32599"/>
                    <a:pt x="19874" y="19874"/>
                  </a:cubicBezTo>
                  <a:cubicBezTo>
                    <a:pt x="32599" y="7149"/>
                    <a:pt x="49858" y="0"/>
                    <a:pt x="6785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12800" cy="211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AUDIENCIA 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060156" y="6458535"/>
            <a:ext cx="5541726" cy="2853989"/>
          </a:xfrm>
          <a:custGeom>
            <a:avLst/>
            <a:gdLst/>
            <a:ahLst/>
            <a:cxnLst/>
            <a:rect r="r" b="b" t="t" l="l"/>
            <a:pathLst>
              <a:path h="2853989" w="5541726">
                <a:moveTo>
                  <a:pt x="0" y="0"/>
                </a:moveTo>
                <a:lnTo>
                  <a:pt x="5541725" y="0"/>
                </a:lnTo>
                <a:lnTo>
                  <a:pt x="5541725" y="2853989"/>
                </a:lnTo>
                <a:lnTo>
                  <a:pt x="0" y="2853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176612" y="6239870"/>
            <a:ext cx="3308814" cy="629181"/>
            <a:chOff x="0" y="0"/>
            <a:chExt cx="812800" cy="1545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54556"/>
            </a:xfrm>
            <a:custGeom>
              <a:avLst/>
              <a:gdLst/>
              <a:ahLst/>
              <a:cxnLst/>
              <a:rect r="r" b="b" t="t" l="l"/>
              <a:pathLst>
                <a:path h="154556" w="812800">
                  <a:moveTo>
                    <a:pt x="67854" y="0"/>
                  </a:moveTo>
                  <a:lnTo>
                    <a:pt x="744946" y="0"/>
                  </a:lnTo>
                  <a:cubicBezTo>
                    <a:pt x="762942" y="0"/>
                    <a:pt x="780201" y="7149"/>
                    <a:pt x="792926" y="19874"/>
                  </a:cubicBezTo>
                  <a:cubicBezTo>
                    <a:pt x="805651" y="32599"/>
                    <a:pt x="812800" y="49858"/>
                    <a:pt x="812800" y="67854"/>
                  </a:cubicBezTo>
                  <a:lnTo>
                    <a:pt x="812800" y="86703"/>
                  </a:lnTo>
                  <a:cubicBezTo>
                    <a:pt x="812800" y="104699"/>
                    <a:pt x="805651" y="121957"/>
                    <a:pt x="792926" y="134682"/>
                  </a:cubicBezTo>
                  <a:cubicBezTo>
                    <a:pt x="780201" y="147408"/>
                    <a:pt x="762942" y="154556"/>
                    <a:pt x="744946" y="154556"/>
                  </a:cubicBezTo>
                  <a:lnTo>
                    <a:pt x="67854" y="154556"/>
                  </a:lnTo>
                  <a:cubicBezTo>
                    <a:pt x="49858" y="154556"/>
                    <a:pt x="32599" y="147408"/>
                    <a:pt x="19874" y="134682"/>
                  </a:cubicBezTo>
                  <a:cubicBezTo>
                    <a:pt x="7149" y="121957"/>
                    <a:pt x="0" y="104699"/>
                    <a:pt x="0" y="86703"/>
                  </a:cubicBezTo>
                  <a:lnTo>
                    <a:pt x="0" y="67854"/>
                  </a:lnTo>
                  <a:cubicBezTo>
                    <a:pt x="0" y="49858"/>
                    <a:pt x="7149" y="32599"/>
                    <a:pt x="19874" y="19874"/>
                  </a:cubicBezTo>
                  <a:cubicBezTo>
                    <a:pt x="32599" y="7149"/>
                    <a:pt x="49858" y="0"/>
                    <a:pt x="6785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12800" cy="211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PROBLEMATICA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441970" y="7857601"/>
            <a:ext cx="6403324" cy="2677754"/>
          </a:xfrm>
          <a:custGeom>
            <a:avLst/>
            <a:gdLst/>
            <a:ahLst/>
            <a:cxnLst/>
            <a:rect r="r" b="b" t="t" l="l"/>
            <a:pathLst>
              <a:path h="2677754" w="6403324">
                <a:moveTo>
                  <a:pt x="0" y="0"/>
                </a:moveTo>
                <a:lnTo>
                  <a:pt x="6403323" y="0"/>
                </a:lnTo>
                <a:lnTo>
                  <a:pt x="6403323" y="2677753"/>
                </a:lnTo>
                <a:lnTo>
                  <a:pt x="0" y="26777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317260" y="-806179"/>
            <a:ext cx="6456981" cy="6360248"/>
          </a:xfrm>
          <a:custGeom>
            <a:avLst/>
            <a:gdLst/>
            <a:ahLst/>
            <a:cxnLst/>
            <a:rect r="r" b="b" t="t" l="l"/>
            <a:pathLst>
              <a:path h="6360248" w="6456981">
                <a:moveTo>
                  <a:pt x="0" y="0"/>
                </a:moveTo>
                <a:lnTo>
                  <a:pt x="6456982" y="0"/>
                </a:lnTo>
                <a:lnTo>
                  <a:pt x="6456982" y="6360248"/>
                </a:lnTo>
                <a:lnTo>
                  <a:pt x="0" y="63602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1227548" y="1740485"/>
            <a:ext cx="10057404" cy="116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b="true" sz="6850" spc="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¿QUÉ ES CANCHAPP?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39604" y="3977725"/>
            <a:ext cx="4622170" cy="158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CanchApp es una plataforma móvil integral que conecta a la comunidad deportiva. (Encuentros deportivos)</a:t>
            </a:r>
          </a:p>
          <a:p>
            <a:pPr algn="l">
              <a:lnSpc>
                <a:spcPts val="315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381649" y="4177170"/>
            <a:ext cx="4622170" cy="118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S</a:t>
            </a:r>
            <a:r>
              <a:rPr lang="en-US" sz="225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implificar la organización de partidos, la gestión de complejos deportivos y la creación de torneos.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05352" y="6938397"/>
            <a:ext cx="4622170" cy="238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227" indent="-243614" lvl="1">
              <a:lnSpc>
                <a:spcPts val="3159"/>
              </a:lnSpc>
              <a:buFont typeface="Arial"/>
              <a:buChar char="•"/>
            </a:pPr>
            <a:r>
              <a:rPr lang="en-US" sz="225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Jugad</a:t>
            </a:r>
            <a:r>
              <a:rPr lang="en-US" sz="225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ores: Buscan partidos, se unen a equipos y compiten.</a:t>
            </a:r>
          </a:p>
          <a:p>
            <a:pPr algn="l" marL="487227" indent="-243614" lvl="1">
              <a:lnSpc>
                <a:spcPts val="3159"/>
              </a:lnSpc>
              <a:buFont typeface="Arial"/>
              <a:buChar char="•"/>
            </a:pPr>
            <a:r>
              <a:rPr lang="en-US" sz="225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Dueños de Canchas: Gestionan sus instalaciones, maximizan reservas y organizan eventos.</a:t>
            </a:r>
          </a:p>
          <a:p>
            <a:pPr algn="l">
              <a:lnSpc>
                <a:spcPts val="315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381649" y="6938397"/>
            <a:ext cx="4622170" cy="198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La organización</a:t>
            </a:r>
            <a:r>
              <a:rPr lang="en-US" sz="225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 de un partido debería ser un paso fácil antes de jugar, pero hoy en día es la mayor barrera que detiene a las personas de practicar su deporte favorito.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-1403776" y="1306823"/>
            <a:ext cx="1646555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313479" y="6747288"/>
            <a:ext cx="1496601" cy="357988"/>
            <a:chOff x="0" y="0"/>
            <a:chExt cx="367635" cy="879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7635" cy="87939"/>
            </a:xfrm>
            <a:custGeom>
              <a:avLst/>
              <a:gdLst/>
              <a:ahLst/>
              <a:cxnLst/>
              <a:rect r="r" b="b" t="t" l="l"/>
              <a:pathLst>
                <a:path h="87939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87939"/>
                  </a:lnTo>
                  <a:lnTo>
                    <a:pt x="0" y="8793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7635" cy="126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6133579">
            <a:off x="-2231092" y="8567964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49922" y="6747288"/>
            <a:ext cx="1496601" cy="357988"/>
            <a:chOff x="0" y="0"/>
            <a:chExt cx="367635" cy="879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7635" cy="87939"/>
            </a:xfrm>
            <a:custGeom>
              <a:avLst/>
              <a:gdLst/>
              <a:ahLst/>
              <a:cxnLst/>
              <a:rect r="r" b="b" t="t" l="l"/>
              <a:pathLst>
                <a:path h="87939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87939"/>
                  </a:lnTo>
                  <a:lnTo>
                    <a:pt x="0" y="8793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7635" cy="126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2500834" y="3415846"/>
            <a:ext cx="3121892" cy="3121892"/>
            <a:chOff x="0" y="0"/>
            <a:chExt cx="14187043" cy="141870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3"/>
              <a:stretch>
                <a:fillRect l="-35106" t="0" r="-35106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7337259" y="3415846"/>
            <a:ext cx="3121892" cy="3121892"/>
            <a:chOff x="0" y="0"/>
            <a:chExt cx="14187043" cy="141870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5"/>
              <a:stretch>
                <a:fillRect l="0" t="-24335" r="0" b="-24335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173684" y="3415846"/>
            <a:ext cx="3121892" cy="3121892"/>
            <a:chOff x="0" y="0"/>
            <a:chExt cx="14187043" cy="141870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041984" y="7746090"/>
            <a:ext cx="3712476" cy="10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C</a:t>
            </a: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reación y búsqueda de partidos para jugadores; gestión de canchas y disponibilidad para dueños.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5284" y="7267494"/>
            <a:ext cx="4245842" cy="34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b="true" sz="2003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🏟️ Gestión de Partidos y Canchas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9504" y="1546412"/>
            <a:ext cx="14277329" cy="116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b="true" sz="6850" spc="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CARACTERÍSTICAS PRINCIPALES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05542" y="7793623"/>
            <a:ext cx="3712476" cy="10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S</a:t>
            </a: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istema de registro y login diferenciado para Jugadores y Dueños.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64998" y="7267494"/>
            <a:ext cx="3853020" cy="34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b="true" sz="2003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🔐 Autenticación Completa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173684" y="3415846"/>
            <a:ext cx="3121892" cy="3121892"/>
            <a:chOff x="0" y="0"/>
            <a:chExt cx="14187043" cy="141870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7"/>
              <a:stretch>
                <a:fillRect l="-37912" t="0" r="-37912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132295" y="6747288"/>
            <a:ext cx="1496601" cy="357988"/>
            <a:chOff x="0" y="0"/>
            <a:chExt cx="367635" cy="879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7635" cy="87939"/>
            </a:xfrm>
            <a:custGeom>
              <a:avLst/>
              <a:gdLst/>
              <a:ahLst/>
              <a:cxnLst/>
              <a:rect r="r" b="b" t="t" l="l"/>
              <a:pathLst>
                <a:path h="87939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87939"/>
                  </a:lnTo>
                  <a:lnTo>
                    <a:pt x="0" y="8793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67635" cy="126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00911" y="7282534"/>
            <a:ext cx="3359368" cy="34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b="true" sz="2003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📱 Multiplataforma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24357" y="7793623"/>
            <a:ext cx="3712476" cy="10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D</a:t>
            </a: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esarrollado para funcionar de forma nativa en Android e iOS gracias a Capacitor.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79818">
            <a:off x="15701598" y="-1548653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60" y="0"/>
                </a:lnTo>
                <a:lnTo>
                  <a:pt x="4193960" y="4518745"/>
                </a:lnTo>
                <a:lnTo>
                  <a:pt x="0" y="451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1260457" y="177040"/>
            <a:ext cx="1646555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626037" y="6747288"/>
            <a:ext cx="1496601" cy="357988"/>
            <a:chOff x="0" y="0"/>
            <a:chExt cx="367635" cy="879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7635" cy="87939"/>
            </a:xfrm>
            <a:custGeom>
              <a:avLst/>
              <a:gdLst/>
              <a:ahLst/>
              <a:cxnLst/>
              <a:rect r="r" b="b" t="t" l="l"/>
              <a:pathLst>
                <a:path h="87939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87939"/>
                  </a:lnTo>
                  <a:lnTo>
                    <a:pt x="0" y="8793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7635" cy="126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6133579">
            <a:off x="-2231092" y="8567964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486231" y="6747288"/>
            <a:ext cx="1496601" cy="357988"/>
            <a:chOff x="0" y="0"/>
            <a:chExt cx="367635" cy="879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7635" cy="87939"/>
            </a:xfrm>
            <a:custGeom>
              <a:avLst/>
              <a:gdLst/>
              <a:ahLst/>
              <a:cxnLst/>
              <a:rect r="r" b="b" t="t" l="l"/>
              <a:pathLst>
                <a:path h="87939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87939"/>
                  </a:lnTo>
                  <a:lnTo>
                    <a:pt x="0" y="8793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7635" cy="126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2816535" y="3415846"/>
            <a:ext cx="3121892" cy="3121892"/>
            <a:chOff x="0" y="0"/>
            <a:chExt cx="14187043" cy="141870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3"/>
              <a:stretch>
                <a:fillRect l="-46076" t="0" r="-46076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533780" y="3415846"/>
            <a:ext cx="3121892" cy="3121892"/>
            <a:chOff x="0" y="0"/>
            <a:chExt cx="14187043" cy="141870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5"/>
              <a:stretch>
                <a:fillRect l="-25046" t="0" r="-25046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7583054" y="3415846"/>
            <a:ext cx="3121892" cy="3121892"/>
            <a:chOff x="0" y="0"/>
            <a:chExt cx="14187043" cy="141870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6"/>
              <a:stretch>
                <a:fillRect l="-25000" t="0" r="-2500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87043" cy="14187043"/>
            </a:xfrm>
            <a:custGeom>
              <a:avLst/>
              <a:gdLst/>
              <a:ahLst/>
              <a:cxnLst/>
              <a:rect r="r" b="b" t="t" l="l"/>
              <a:pathLst>
                <a:path h="14187043" w="14187043">
                  <a:moveTo>
                    <a:pt x="14187043" y="14187043"/>
                  </a:moveTo>
                  <a:lnTo>
                    <a:pt x="0" y="14187043"/>
                  </a:lnTo>
                  <a:lnTo>
                    <a:pt x="0" y="0"/>
                  </a:lnTo>
                  <a:lnTo>
                    <a:pt x="14187043" y="0"/>
                  </a:lnTo>
                  <a:lnTo>
                    <a:pt x="14187043" y="14187043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346425" y="6747288"/>
            <a:ext cx="1496601" cy="357988"/>
            <a:chOff x="0" y="0"/>
            <a:chExt cx="367635" cy="879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7635" cy="87939"/>
            </a:xfrm>
            <a:custGeom>
              <a:avLst/>
              <a:gdLst/>
              <a:ahLst/>
              <a:cxnLst/>
              <a:rect r="r" b="b" t="t" l="l"/>
              <a:pathLst>
                <a:path h="87939" w="367635">
                  <a:moveTo>
                    <a:pt x="0" y="0"/>
                  </a:moveTo>
                  <a:lnTo>
                    <a:pt x="367635" y="0"/>
                  </a:lnTo>
                  <a:lnTo>
                    <a:pt x="367635" y="87939"/>
                  </a:lnTo>
                  <a:lnTo>
                    <a:pt x="0" y="8793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67635" cy="126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378294" y="7569033"/>
            <a:ext cx="3712476" cy="704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C</a:t>
            </a: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omunicación integrada entre usuarios, equipos y partidos.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02620" y="7267200"/>
            <a:ext cx="3263823" cy="34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b="true" sz="2003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💬 Chat en Tiempo Real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18100" y="7569033"/>
            <a:ext cx="3712476" cy="10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C</a:t>
            </a: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reación, administración de miembros y participación en eventos.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94653" y="7267200"/>
            <a:ext cx="3359368" cy="34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b="true" sz="2003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👥 Gestión de Equipos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14095" y="7267200"/>
            <a:ext cx="2961262" cy="34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b="true" sz="2003">
                <a:solidFill>
                  <a:srgbClr val="281C22"/>
                </a:solidFill>
                <a:latin typeface="DM Sans Bold"/>
                <a:ea typeface="DM Sans Bold"/>
                <a:cs typeface="DM Sans Bold"/>
                <a:sym typeface="DM Sans Bold"/>
              </a:rPr>
              <a:t>🔔 Notificaciones Push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38488" y="7569033"/>
            <a:ext cx="3712476" cy="10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Ale</a:t>
            </a:r>
            <a:r>
              <a:rPr lang="en-US" sz="200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rtas para invitaciones, recordatorios de partidos y actualizaciones de torneos.</a:t>
            </a:r>
          </a:p>
        </p:txBody>
      </p:sp>
      <p:sp>
        <p:nvSpPr>
          <p:cNvPr name="AutoShape 29" id="29"/>
          <p:cNvSpPr/>
          <p:nvPr/>
        </p:nvSpPr>
        <p:spPr>
          <a:xfrm rot="-10800000">
            <a:off x="-1403776" y="1306823"/>
            <a:ext cx="1646555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459504" y="1546412"/>
            <a:ext cx="14277329" cy="116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b="true" sz="6850" spc="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CARACTERÍSTICAS PRINCIPALES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4715" y="4793198"/>
            <a:ext cx="3691221" cy="369122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DF2C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27677" y="4781449"/>
            <a:ext cx="4232646" cy="4465102"/>
            <a:chOff x="0" y="0"/>
            <a:chExt cx="932021" cy="9832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2021" cy="983207"/>
            </a:xfrm>
            <a:custGeom>
              <a:avLst/>
              <a:gdLst/>
              <a:ahLst/>
              <a:cxnLst/>
              <a:rect r="r" b="b" t="t" l="l"/>
              <a:pathLst>
                <a:path h="983207" w="932021">
                  <a:moveTo>
                    <a:pt x="85260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903789"/>
                  </a:lnTo>
                  <a:cubicBezTo>
                    <a:pt x="43699" y="903789"/>
                    <a:pt x="79418" y="939128"/>
                    <a:pt x="79418" y="983207"/>
                  </a:cubicBezTo>
                  <a:lnTo>
                    <a:pt x="852602" y="983207"/>
                  </a:lnTo>
                  <a:cubicBezTo>
                    <a:pt x="852602" y="939508"/>
                    <a:pt x="887941" y="903789"/>
                    <a:pt x="932021" y="903789"/>
                  </a:cubicBezTo>
                  <a:lnTo>
                    <a:pt x="932021" y="79418"/>
                  </a:lnTo>
                  <a:cubicBezTo>
                    <a:pt x="888321" y="79418"/>
                    <a:pt x="852602" y="44079"/>
                    <a:pt x="8526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DF2C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38100" y="0"/>
              <a:ext cx="855821" cy="94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249121" y="4781449"/>
            <a:ext cx="3691221" cy="36912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DF2C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38100" y="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625380" y="876300"/>
            <a:ext cx="11174760" cy="133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920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Metodología ocupada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15610" y="3762909"/>
            <a:ext cx="18567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N° Spints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9663" y="5020194"/>
            <a:ext cx="3081326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Metodologia Scrum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2754" y="3762909"/>
            <a:ext cx="425514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Tipo de metodología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64473" y="5144043"/>
            <a:ext cx="3559053" cy="15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Se planificaron siete sprints con una duración aproximada de dos semanas cada uno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99283" y="3762909"/>
            <a:ext cx="99089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Daily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31385" y="4918570"/>
            <a:ext cx="2926694" cy="340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8"/>
              </a:lnSpc>
              <a:spcBef>
                <a:spcPct val="0"/>
              </a:spcBef>
            </a:pPr>
            <a:r>
              <a:rPr lang="en-US" sz="218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Se realizaron tres reuniones por semana: dos sesiones de manera remota y una reunión presencial, todas debidamente registradas y documentadas en Jira.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89663" y="5532638"/>
            <a:ext cx="3081326" cy="238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Backlog inicial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Sprint planning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Daily Scrum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Sprint review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Retrospectiva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Actualizar backlog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03337" y="7242600"/>
            <a:ext cx="3081326" cy="15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Desde el lunes 25 de agosto de 2025 hasta el viernes 5 de diciembre de 2025.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7027677" y="7014000"/>
            <a:ext cx="42326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06193">
            <a:off x="-1814697" y="9548830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06193">
            <a:off x="12995773" y="-710656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1631" y="4065365"/>
            <a:ext cx="4285649" cy="997388"/>
          </a:xfrm>
          <a:custGeom>
            <a:avLst/>
            <a:gdLst/>
            <a:ahLst/>
            <a:cxnLst/>
            <a:rect r="r" b="b" t="t" l="l"/>
            <a:pathLst>
              <a:path h="997388" w="4285649">
                <a:moveTo>
                  <a:pt x="0" y="0"/>
                </a:moveTo>
                <a:lnTo>
                  <a:pt x="4285650" y="0"/>
                </a:lnTo>
                <a:lnTo>
                  <a:pt x="4285650" y="997387"/>
                </a:lnTo>
                <a:lnTo>
                  <a:pt x="0" y="997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8273" y="4991602"/>
            <a:ext cx="3672366" cy="260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R</a:t>
            </a: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eact 18 con TypeScript para un código robusto, escalable y mantenible.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42802" y="237761"/>
            <a:ext cx="14002396" cy="334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01"/>
              </a:lnSpc>
            </a:pPr>
            <a:r>
              <a:rPr lang="en-US" b="true" sz="9711" spc="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STACK TECNOLÓGICO (FRONTEND)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7445" y="4316725"/>
            <a:ext cx="3414022" cy="50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Framework Principal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93923" y="5086350"/>
            <a:ext cx="3672366" cy="260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Capacit</a:t>
            </a: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or 6 para compilar la aplicación web en un contenedor nativo para iOS y Android.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587281" y="4105739"/>
            <a:ext cx="4285649" cy="997388"/>
          </a:xfrm>
          <a:custGeom>
            <a:avLst/>
            <a:gdLst/>
            <a:ahLst/>
            <a:cxnLst/>
            <a:rect r="r" b="b" t="t" l="l"/>
            <a:pathLst>
              <a:path h="997388" w="4285649">
                <a:moveTo>
                  <a:pt x="0" y="0"/>
                </a:moveTo>
                <a:lnTo>
                  <a:pt x="4285649" y="0"/>
                </a:lnTo>
                <a:lnTo>
                  <a:pt x="4285649" y="997387"/>
                </a:lnTo>
                <a:lnTo>
                  <a:pt x="0" y="997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02464" y="4099478"/>
            <a:ext cx="4285649" cy="997388"/>
          </a:xfrm>
          <a:custGeom>
            <a:avLst/>
            <a:gdLst/>
            <a:ahLst/>
            <a:cxnLst/>
            <a:rect r="r" b="b" t="t" l="l"/>
            <a:pathLst>
              <a:path h="997388" w="4285649">
                <a:moveTo>
                  <a:pt x="0" y="0"/>
                </a:moveTo>
                <a:lnTo>
                  <a:pt x="4285649" y="0"/>
                </a:lnTo>
                <a:lnTo>
                  <a:pt x="4285649" y="997388"/>
                </a:lnTo>
                <a:lnTo>
                  <a:pt x="0" y="997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76935" y="4316725"/>
            <a:ext cx="2506340" cy="50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Entorno Móvil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50052" y="5086350"/>
            <a:ext cx="5222230" cy="522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890" indent="-319945" lvl="1">
              <a:lnSpc>
                <a:spcPts val="4149"/>
              </a:lnSpc>
              <a:buFont typeface="Arial"/>
              <a:buChar char="•"/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Tailwind CSS: F</a:t>
            </a: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ramework CSS utility-first para un diseño rápido y consistente.</a:t>
            </a:r>
          </a:p>
          <a:p>
            <a:pPr algn="l" marL="639890" indent="-319945" lvl="1">
              <a:lnSpc>
                <a:spcPts val="4149"/>
              </a:lnSpc>
              <a:buFont typeface="Arial"/>
              <a:buChar char="•"/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shadcn/ui: Colección de componentes de UI reutilizables, accesibles y personalizables.</a:t>
            </a:r>
          </a:p>
          <a:p>
            <a:pPr algn="l" marL="639890" indent="-319945" lvl="1">
              <a:lnSpc>
                <a:spcPts val="4149"/>
              </a:lnSpc>
              <a:buFont typeface="Arial"/>
              <a:buChar char="•"/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Lucide React: Biblioteca de íconos limpios y consistentes.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92118" y="4316725"/>
            <a:ext cx="2506340" cy="50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Estilos y UI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872930" y="4105739"/>
            <a:ext cx="4285649" cy="997388"/>
          </a:xfrm>
          <a:custGeom>
            <a:avLst/>
            <a:gdLst/>
            <a:ahLst/>
            <a:cxnLst/>
            <a:rect r="r" b="b" t="t" l="l"/>
            <a:pathLst>
              <a:path h="997388" w="4285649">
                <a:moveTo>
                  <a:pt x="0" y="0"/>
                </a:moveTo>
                <a:lnTo>
                  <a:pt x="4285650" y="0"/>
                </a:lnTo>
                <a:lnTo>
                  <a:pt x="4285650" y="997387"/>
                </a:lnTo>
                <a:lnTo>
                  <a:pt x="0" y="997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734527" y="4322985"/>
            <a:ext cx="2506340" cy="50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Build Tool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79572" y="5086350"/>
            <a:ext cx="3672366" cy="207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Vite para un ent</a:t>
            </a: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orno de desarrollo y compilación ultra rápido.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148681" y="-740834"/>
            <a:ext cx="7593769" cy="7593769"/>
          </a:xfrm>
          <a:custGeom>
            <a:avLst/>
            <a:gdLst/>
            <a:ahLst/>
            <a:cxnLst/>
            <a:rect r="r" b="b" t="t" l="l"/>
            <a:pathLst>
              <a:path h="7593769" w="7593769">
                <a:moveTo>
                  <a:pt x="0" y="0"/>
                </a:moveTo>
                <a:lnTo>
                  <a:pt x="7593769" y="0"/>
                </a:lnTo>
                <a:lnTo>
                  <a:pt x="7593769" y="7593768"/>
                </a:lnTo>
                <a:lnTo>
                  <a:pt x="0" y="75937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91888" y="9697456"/>
            <a:ext cx="9606103" cy="296916"/>
          </a:xfrm>
          <a:custGeom>
            <a:avLst/>
            <a:gdLst/>
            <a:ahLst/>
            <a:cxnLst/>
            <a:rect r="r" b="b" t="t" l="l"/>
            <a:pathLst>
              <a:path h="296916" w="9606103">
                <a:moveTo>
                  <a:pt x="0" y="0"/>
                </a:moveTo>
                <a:lnTo>
                  <a:pt x="9606102" y="0"/>
                </a:lnTo>
                <a:lnTo>
                  <a:pt x="9606102" y="296916"/>
                </a:lnTo>
                <a:lnTo>
                  <a:pt x="0" y="296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24166"/>
            <a:ext cx="11132478" cy="365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6"/>
              </a:lnSpc>
            </a:pPr>
            <a:r>
              <a:rPr lang="en-US" b="true" sz="7011" spc="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STACK TECNOLÓGICO (BACKEND &amp; BASE DE DATOS)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152688" y="974297"/>
            <a:ext cx="4761143" cy="8464255"/>
            <a:chOff x="0" y="0"/>
            <a:chExt cx="13716000" cy="2438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24384000"/>
                  </a:move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24384000"/>
                  </a:lnTo>
                  <a:close/>
                </a:path>
              </a:pathLst>
            </a:custGeom>
            <a:blipFill>
              <a:blip r:embed="rId5"/>
              <a:stretch>
                <a:fillRect l="-38888" t="0" r="-38888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24384000"/>
                  </a:move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243840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6094" y="4265250"/>
            <a:ext cx="10877690" cy="558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122" indent="-287561" lvl="1">
              <a:lnSpc>
                <a:spcPts val="3729"/>
              </a:lnSpc>
              <a:buFont typeface="Arial"/>
              <a:buChar char="•"/>
            </a:pPr>
            <a:r>
              <a:rPr lang="en-US" sz="26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Authenticati</a:t>
            </a:r>
            <a:r>
              <a:rPr lang="en-US" sz="26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on: Gestión de usuarios con Email/Contraseña y proveedores como Google.</a:t>
            </a:r>
          </a:p>
          <a:p>
            <a:pPr algn="l">
              <a:lnSpc>
                <a:spcPts val="3729"/>
              </a:lnSpc>
            </a:pPr>
          </a:p>
          <a:p>
            <a:pPr algn="l" marL="575122" indent="-287561" lvl="1">
              <a:lnSpc>
                <a:spcPts val="3729"/>
              </a:lnSpc>
              <a:buFont typeface="Arial"/>
              <a:buChar char="•"/>
            </a:pPr>
            <a:r>
              <a:rPr lang="en-US" sz="26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Cloud Firestore: Base de datos NoSQL en tiempo real para almacenar toda la información de la app (usuarios, partidos, equipos, etc.).</a:t>
            </a:r>
          </a:p>
          <a:p>
            <a:pPr algn="l">
              <a:lnSpc>
                <a:spcPts val="3729"/>
              </a:lnSpc>
            </a:pPr>
          </a:p>
          <a:p>
            <a:pPr algn="l" marL="575122" indent="-287561" lvl="1">
              <a:lnSpc>
                <a:spcPts val="3729"/>
              </a:lnSpc>
              <a:buFont typeface="Arial"/>
              <a:buChar char="•"/>
            </a:pPr>
            <a:r>
              <a:rPr lang="en-US" sz="26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Firebase Storage: Almacenamiento de archivos multimedia como fotos de perfil, logos de equipos e imágenes de canchas.</a:t>
            </a:r>
          </a:p>
          <a:p>
            <a:pPr algn="l">
              <a:lnSpc>
                <a:spcPts val="3729"/>
              </a:lnSpc>
            </a:pPr>
          </a:p>
          <a:p>
            <a:pPr algn="l" marL="575122" indent="-287561" lvl="1">
              <a:lnSpc>
                <a:spcPts val="3729"/>
              </a:lnSpc>
              <a:buFont typeface="Arial"/>
              <a:buChar char="•"/>
            </a:pPr>
            <a:r>
              <a:rPr lang="en-US" sz="26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Cloud Messaging (FCM): Envío de notificaciones push a los dispositivos de los usuarios.</a:t>
            </a:r>
          </a:p>
          <a:p>
            <a:pPr algn="l">
              <a:lnSpc>
                <a:spcPts val="372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400000">
            <a:off x="-1811953" y="6824056"/>
            <a:ext cx="5862510" cy="181205"/>
          </a:xfrm>
          <a:custGeom>
            <a:avLst/>
            <a:gdLst/>
            <a:ahLst/>
            <a:cxnLst/>
            <a:rect r="r" b="b" t="t" l="l"/>
            <a:pathLst>
              <a:path h="181205" w="5862510">
                <a:moveTo>
                  <a:pt x="0" y="0"/>
                </a:moveTo>
                <a:lnTo>
                  <a:pt x="5862511" y="0"/>
                </a:lnTo>
                <a:lnTo>
                  <a:pt x="5862511" y="181205"/>
                </a:lnTo>
                <a:lnTo>
                  <a:pt x="0" y="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0" y="6075914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-5400000">
            <a:off x="3014161" y="5170800"/>
            <a:ext cx="8766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35373"/>
            <a:ext cx="13203961" cy="95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 DE LA APLICACIÓN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41519" y="5727837"/>
            <a:ext cx="1383879" cy="696154"/>
            <a:chOff x="0" y="0"/>
            <a:chExt cx="339946" cy="171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9946" cy="171008"/>
            </a:xfrm>
            <a:custGeom>
              <a:avLst/>
              <a:gdLst/>
              <a:ahLst/>
              <a:cxnLst/>
              <a:rect r="r" b="b" t="t" l="l"/>
              <a:pathLst>
                <a:path h="171008" w="339946">
                  <a:moveTo>
                    <a:pt x="85504" y="0"/>
                  </a:moveTo>
                  <a:lnTo>
                    <a:pt x="254442" y="0"/>
                  </a:lnTo>
                  <a:cubicBezTo>
                    <a:pt x="301664" y="0"/>
                    <a:pt x="339946" y="38281"/>
                    <a:pt x="339946" y="85504"/>
                  </a:cubicBezTo>
                  <a:lnTo>
                    <a:pt x="339946" y="85504"/>
                  </a:lnTo>
                  <a:cubicBezTo>
                    <a:pt x="339946" y="132727"/>
                    <a:pt x="301664" y="171008"/>
                    <a:pt x="254442" y="171008"/>
                  </a:cubicBezTo>
                  <a:lnTo>
                    <a:pt x="85504" y="171008"/>
                  </a:lnTo>
                  <a:cubicBezTo>
                    <a:pt x="38281" y="171008"/>
                    <a:pt x="0" y="132727"/>
                    <a:pt x="0" y="85504"/>
                  </a:cubicBezTo>
                  <a:lnTo>
                    <a:pt x="0" y="85504"/>
                  </a:lnTo>
                  <a:cubicBezTo>
                    <a:pt x="0" y="38281"/>
                    <a:pt x="38281" y="0"/>
                    <a:pt x="85504" y="0"/>
                  </a:cubicBezTo>
                  <a:close/>
                </a:path>
              </a:pathLst>
            </a:custGeom>
            <a:solidFill>
              <a:srgbClr val="FDF2C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39946" cy="2281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64760" y="3157752"/>
            <a:ext cx="3175497" cy="146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Una</a:t>
            </a:r>
            <a:r>
              <a:rPr lang="en-US" sz="21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 única base de código en React + TypeScript que define la lógica y la interfaz de usuario.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6699743" y="6530658"/>
            <a:ext cx="19050" cy="103080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6045900" y="5746887"/>
            <a:ext cx="1383879" cy="696154"/>
            <a:chOff x="0" y="0"/>
            <a:chExt cx="339946" cy="1710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9946" cy="171008"/>
            </a:xfrm>
            <a:custGeom>
              <a:avLst/>
              <a:gdLst/>
              <a:ahLst/>
              <a:cxnLst/>
              <a:rect r="r" b="b" t="t" l="l"/>
              <a:pathLst>
                <a:path h="171008" w="339946">
                  <a:moveTo>
                    <a:pt x="85504" y="0"/>
                  </a:moveTo>
                  <a:lnTo>
                    <a:pt x="254442" y="0"/>
                  </a:lnTo>
                  <a:cubicBezTo>
                    <a:pt x="301664" y="0"/>
                    <a:pt x="339946" y="38281"/>
                    <a:pt x="339946" y="85504"/>
                  </a:cubicBezTo>
                  <a:lnTo>
                    <a:pt x="339946" y="85504"/>
                  </a:lnTo>
                  <a:cubicBezTo>
                    <a:pt x="339946" y="132727"/>
                    <a:pt x="301664" y="171008"/>
                    <a:pt x="254442" y="171008"/>
                  </a:cubicBezTo>
                  <a:lnTo>
                    <a:pt x="85504" y="171008"/>
                  </a:lnTo>
                  <a:cubicBezTo>
                    <a:pt x="38281" y="171008"/>
                    <a:pt x="0" y="132727"/>
                    <a:pt x="0" y="85504"/>
                  </a:cubicBezTo>
                  <a:lnTo>
                    <a:pt x="0" y="85504"/>
                  </a:lnTo>
                  <a:cubicBezTo>
                    <a:pt x="0" y="38281"/>
                    <a:pt x="38281" y="0"/>
                    <a:pt x="85504" y="0"/>
                  </a:cubicBezTo>
                  <a:close/>
                </a:path>
              </a:pathLst>
            </a:custGeom>
            <a:solidFill>
              <a:srgbClr val="FDF2C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39946" cy="2281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111994" y="7523362"/>
            <a:ext cx="3175497" cy="258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Actúa c</a:t>
            </a:r>
            <a:r>
              <a:rPr lang="en-US" sz="21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omo un puente, permitiendo que la aplicación web acceda a funcionalidades nativas del dispositivo (como notificaciones push, geolocalización, etc.).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0042220" y="4751502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9350281" y="5759491"/>
            <a:ext cx="1383879" cy="696154"/>
            <a:chOff x="0" y="0"/>
            <a:chExt cx="339946" cy="1710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9946" cy="171008"/>
            </a:xfrm>
            <a:custGeom>
              <a:avLst/>
              <a:gdLst/>
              <a:ahLst/>
              <a:cxnLst/>
              <a:rect r="r" b="b" t="t" l="l"/>
              <a:pathLst>
                <a:path h="171008" w="339946">
                  <a:moveTo>
                    <a:pt x="85504" y="0"/>
                  </a:moveTo>
                  <a:lnTo>
                    <a:pt x="254442" y="0"/>
                  </a:lnTo>
                  <a:cubicBezTo>
                    <a:pt x="301664" y="0"/>
                    <a:pt x="339946" y="38281"/>
                    <a:pt x="339946" y="85504"/>
                  </a:cubicBezTo>
                  <a:lnTo>
                    <a:pt x="339946" y="85504"/>
                  </a:lnTo>
                  <a:cubicBezTo>
                    <a:pt x="339946" y="132727"/>
                    <a:pt x="301664" y="171008"/>
                    <a:pt x="254442" y="171008"/>
                  </a:cubicBezTo>
                  <a:lnTo>
                    <a:pt x="85504" y="171008"/>
                  </a:lnTo>
                  <a:cubicBezTo>
                    <a:pt x="38281" y="171008"/>
                    <a:pt x="0" y="132727"/>
                    <a:pt x="0" y="85504"/>
                  </a:cubicBezTo>
                  <a:lnTo>
                    <a:pt x="0" y="85504"/>
                  </a:lnTo>
                  <a:cubicBezTo>
                    <a:pt x="0" y="38281"/>
                    <a:pt x="38281" y="0"/>
                    <a:pt x="85504" y="0"/>
                  </a:cubicBezTo>
                  <a:close/>
                </a:path>
              </a:pathLst>
            </a:custGeom>
            <a:solidFill>
              <a:srgbClr val="FDF2C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39946" cy="2281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231467" y="2786277"/>
            <a:ext cx="3742908" cy="184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Fi</a:t>
            </a:r>
            <a:r>
              <a:rPr lang="en-US" sz="21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rebase gestiona la base de datos, autenticación y almacenamiento, comunicándose directamente con el cliente a través de su SDK.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13841066" y="6365375"/>
            <a:ext cx="0" cy="8766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3130077" y="5699707"/>
            <a:ext cx="1383879" cy="696154"/>
            <a:chOff x="0" y="0"/>
            <a:chExt cx="339946" cy="1710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9946" cy="171008"/>
            </a:xfrm>
            <a:custGeom>
              <a:avLst/>
              <a:gdLst/>
              <a:ahLst/>
              <a:cxnLst/>
              <a:rect r="r" b="b" t="t" l="l"/>
              <a:pathLst>
                <a:path h="171008" w="339946">
                  <a:moveTo>
                    <a:pt x="85504" y="0"/>
                  </a:moveTo>
                  <a:lnTo>
                    <a:pt x="254442" y="0"/>
                  </a:lnTo>
                  <a:cubicBezTo>
                    <a:pt x="301664" y="0"/>
                    <a:pt x="339946" y="38281"/>
                    <a:pt x="339946" y="85504"/>
                  </a:cubicBezTo>
                  <a:lnTo>
                    <a:pt x="339946" y="85504"/>
                  </a:lnTo>
                  <a:cubicBezTo>
                    <a:pt x="339946" y="132727"/>
                    <a:pt x="301664" y="171008"/>
                    <a:pt x="254442" y="171008"/>
                  </a:cubicBezTo>
                  <a:lnTo>
                    <a:pt x="85504" y="171008"/>
                  </a:lnTo>
                  <a:cubicBezTo>
                    <a:pt x="38281" y="171008"/>
                    <a:pt x="0" y="132727"/>
                    <a:pt x="0" y="85504"/>
                  </a:cubicBezTo>
                  <a:lnTo>
                    <a:pt x="0" y="85504"/>
                  </a:lnTo>
                  <a:cubicBezTo>
                    <a:pt x="0" y="38281"/>
                    <a:pt x="38281" y="0"/>
                    <a:pt x="85504" y="0"/>
                  </a:cubicBezTo>
                  <a:close/>
                </a:path>
              </a:pathLst>
            </a:custGeom>
            <a:solidFill>
              <a:srgbClr val="FDF2CC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39946" cy="2281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234267" y="7455331"/>
            <a:ext cx="3175497" cy="221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El</a:t>
            </a:r>
            <a:r>
              <a:rPr lang="en-US" sz="2141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 cliente realiza lecturas y escrituras directamente en Firestore, que sincroniza los datos en tiempo real entre todos los usuarios conectados.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5579818">
            <a:off x="15701598" y="-1548653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60" y="0"/>
                </a:lnTo>
                <a:lnTo>
                  <a:pt x="4193960" y="4518745"/>
                </a:lnTo>
                <a:lnTo>
                  <a:pt x="0" y="451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6133579">
            <a:off x="-2231092" y="8567964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409764" y="7561814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520354" y="5003553"/>
            <a:ext cx="3864309" cy="696154"/>
            <a:chOff x="0" y="0"/>
            <a:chExt cx="949256" cy="1710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49256" cy="171008"/>
            </a:xfrm>
            <a:custGeom>
              <a:avLst/>
              <a:gdLst/>
              <a:ahLst/>
              <a:cxnLst/>
              <a:rect r="r" b="b" t="t" l="l"/>
              <a:pathLst>
                <a:path h="171008" w="949256">
                  <a:moveTo>
                    <a:pt x="85504" y="0"/>
                  </a:moveTo>
                  <a:lnTo>
                    <a:pt x="863752" y="0"/>
                  </a:lnTo>
                  <a:cubicBezTo>
                    <a:pt x="910974" y="0"/>
                    <a:pt x="949256" y="38281"/>
                    <a:pt x="949256" y="85504"/>
                  </a:cubicBezTo>
                  <a:lnTo>
                    <a:pt x="949256" y="85504"/>
                  </a:lnTo>
                  <a:cubicBezTo>
                    <a:pt x="949256" y="132727"/>
                    <a:pt x="910974" y="171008"/>
                    <a:pt x="863752" y="171008"/>
                  </a:cubicBezTo>
                  <a:lnTo>
                    <a:pt x="85504" y="171008"/>
                  </a:lnTo>
                  <a:cubicBezTo>
                    <a:pt x="38281" y="171008"/>
                    <a:pt x="0" y="132727"/>
                    <a:pt x="0" y="85504"/>
                  </a:cubicBezTo>
                  <a:lnTo>
                    <a:pt x="0" y="85504"/>
                  </a:lnTo>
                  <a:cubicBezTo>
                    <a:pt x="0" y="38281"/>
                    <a:pt x="38281" y="0"/>
                    <a:pt x="8550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49256" cy="218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CLIENTE (FRONTEND)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773100" y="6455645"/>
            <a:ext cx="3929478" cy="908685"/>
            <a:chOff x="0" y="0"/>
            <a:chExt cx="965264" cy="223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5264" cy="223216"/>
            </a:xfrm>
            <a:custGeom>
              <a:avLst/>
              <a:gdLst/>
              <a:ahLst/>
              <a:cxnLst/>
              <a:rect r="r" b="b" t="t" l="l"/>
              <a:pathLst>
                <a:path h="223216" w="965264">
                  <a:moveTo>
                    <a:pt x="111608" y="0"/>
                  </a:moveTo>
                  <a:lnTo>
                    <a:pt x="853657" y="0"/>
                  </a:lnTo>
                  <a:cubicBezTo>
                    <a:pt x="915296" y="0"/>
                    <a:pt x="965264" y="49969"/>
                    <a:pt x="965264" y="111608"/>
                  </a:cubicBezTo>
                  <a:lnTo>
                    <a:pt x="965264" y="111608"/>
                  </a:lnTo>
                  <a:cubicBezTo>
                    <a:pt x="965264" y="173247"/>
                    <a:pt x="915296" y="223216"/>
                    <a:pt x="853657" y="223216"/>
                  </a:cubicBezTo>
                  <a:lnTo>
                    <a:pt x="111608" y="223216"/>
                  </a:lnTo>
                  <a:cubicBezTo>
                    <a:pt x="49969" y="223216"/>
                    <a:pt x="0" y="173247"/>
                    <a:pt x="0" y="111608"/>
                  </a:cubicBezTo>
                  <a:lnTo>
                    <a:pt x="0" y="111608"/>
                  </a:lnTo>
                  <a:cubicBezTo>
                    <a:pt x="0" y="49969"/>
                    <a:pt x="49969" y="0"/>
                    <a:pt x="11160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65264" cy="270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CAPA NATIVA (CAPACITOR)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10066" y="5065631"/>
            <a:ext cx="3864309" cy="696154"/>
            <a:chOff x="0" y="0"/>
            <a:chExt cx="949256" cy="1710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9256" cy="171008"/>
            </a:xfrm>
            <a:custGeom>
              <a:avLst/>
              <a:gdLst/>
              <a:ahLst/>
              <a:cxnLst/>
              <a:rect r="r" b="b" t="t" l="l"/>
              <a:pathLst>
                <a:path h="171008" w="949256">
                  <a:moveTo>
                    <a:pt x="85504" y="0"/>
                  </a:moveTo>
                  <a:lnTo>
                    <a:pt x="863752" y="0"/>
                  </a:lnTo>
                  <a:cubicBezTo>
                    <a:pt x="910974" y="0"/>
                    <a:pt x="949256" y="38281"/>
                    <a:pt x="949256" y="85504"/>
                  </a:cubicBezTo>
                  <a:lnTo>
                    <a:pt x="949256" y="85504"/>
                  </a:lnTo>
                  <a:cubicBezTo>
                    <a:pt x="949256" y="132727"/>
                    <a:pt x="910974" y="171008"/>
                    <a:pt x="863752" y="171008"/>
                  </a:cubicBezTo>
                  <a:lnTo>
                    <a:pt x="85504" y="171008"/>
                  </a:lnTo>
                  <a:cubicBezTo>
                    <a:pt x="38281" y="171008"/>
                    <a:pt x="0" y="132727"/>
                    <a:pt x="0" y="85504"/>
                  </a:cubicBezTo>
                  <a:lnTo>
                    <a:pt x="0" y="85504"/>
                  </a:lnTo>
                  <a:cubicBezTo>
                    <a:pt x="0" y="38281"/>
                    <a:pt x="38281" y="0"/>
                    <a:pt x="8550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49256" cy="218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SERVIDOR (BACKEND)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89861" y="6455645"/>
            <a:ext cx="3864309" cy="696154"/>
            <a:chOff x="0" y="0"/>
            <a:chExt cx="949256" cy="1710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49256" cy="171008"/>
            </a:xfrm>
            <a:custGeom>
              <a:avLst/>
              <a:gdLst/>
              <a:ahLst/>
              <a:cxnLst/>
              <a:rect r="r" b="b" t="t" l="l"/>
              <a:pathLst>
                <a:path h="171008" w="949256">
                  <a:moveTo>
                    <a:pt x="85504" y="0"/>
                  </a:moveTo>
                  <a:lnTo>
                    <a:pt x="863752" y="0"/>
                  </a:lnTo>
                  <a:cubicBezTo>
                    <a:pt x="910974" y="0"/>
                    <a:pt x="949256" y="38281"/>
                    <a:pt x="949256" y="85504"/>
                  </a:cubicBezTo>
                  <a:lnTo>
                    <a:pt x="949256" y="85504"/>
                  </a:lnTo>
                  <a:cubicBezTo>
                    <a:pt x="949256" y="132727"/>
                    <a:pt x="910974" y="171008"/>
                    <a:pt x="863752" y="171008"/>
                  </a:cubicBezTo>
                  <a:lnTo>
                    <a:pt x="85504" y="171008"/>
                  </a:lnTo>
                  <a:cubicBezTo>
                    <a:pt x="38281" y="171008"/>
                    <a:pt x="0" y="132727"/>
                    <a:pt x="0" y="85504"/>
                  </a:cubicBezTo>
                  <a:lnTo>
                    <a:pt x="0" y="85504"/>
                  </a:lnTo>
                  <a:cubicBezTo>
                    <a:pt x="0" y="38281"/>
                    <a:pt x="38281" y="0"/>
                    <a:pt x="8550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49256" cy="218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FLUJO DE DATOS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0" y="5654647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579818">
            <a:off x="15701598" y="-1548653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60" y="0"/>
                </a:lnTo>
                <a:lnTo>
                  <a:pt x="4193960" y="4518745"/>
                </a:lnTo>
                <a:lnTo>
                  <a:pt x="0" y="451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133579">
            <a:off x="-2231092" y="8567964"/>
            <a:ext cx="4193960" cy="4518744"/>
          </a:xfrm>
          <a:custGeom>
            <a:avLst/>
            <a:gdLst/>
            <a:ahLst/>
            <a:cxnLst/>
            <a:rect r="r" b="b" t="t" l="l"/>
            <a:pathLst>
              <a:path h="4518744" w="4193960">
                <a:moveTo>
                  <a:pt x="0" y="0"/>
                </a:moveTo>
                <a:lnTo>
                  <a:pt x="4193959" y="0"/>
                </a:lnTo>
                <a:lnTo>
                  <a:pt x="4193959" y="4518744"/>
                </a:lnTo>
                <a:lnTo>
                  <a:pt x="0" y="451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09764" y="7561814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06355" y="2277167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90" y="0"/>
                </a:lnTo>
                <a:lnTo>
                  <a:pt x="1007529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42019" y="619650"/>
            <a:ext cx="13203961" cy="94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5"/>
              </a:lnSpc>
            </a:pPr>
            <a:r>
              <a:rPr lang="en-US" b="true" sz="5648" spc="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PATRON DE ARQUITECTURA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06193">
            <a:off x="-1814697" y="9548830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06193">
            <a:off x="12995773" y="-710656"/>
            <a:ext cx="7315200" cy="1476340"/>
          </a:xfrm>
          <a:custGeom>
            <a:avLst/>
            <a:gdLst/>
            <a:ahLst/>
            <a:cxnLst/>
            <a:rect r="r" b="b" t="t" l="l"/>
            <a:pathLst>
              <a:path h="1476340" w="7315200">
                <a:moveTo>
                  <a:pt x="0" y="0"/>
                </a:moveTo>
                <a:lnTo>
                  <a:pt x="7315200" y="0"/>
                </a:lnTo>
                <a:lnTo>
                  <a:pt x="7315200" y="1476340"/>
                </a:lnTo>
                <a:lnTo>
                  <a:pt x="0" y="14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4356" y="3667838"/>
            <a:ext cx="6067507" cy="1412074"/>
          </a:xfrm>
          <a:custGeom>
            <a:avLst/>
            <a:gdLst/>
            <a:ahLst/>
            <a:cxnLst/>
            <a:rect r="r" b="b" t="t" l="l"/>
            <a:pathLst>
              <a:path h="1412074" w="6067507">
                <a:moveTo>
                  <a:pt x="0" y="0"/>
                </a:moveTo>
                <a:lnTo>
                  <a:pt x="6067507" y="0"/>
                </a:lnTo>
                <a:lnTo>
                  <a:pt x="6067507" y="1412074"/>
                </a:lnTo>
                <a:lnTo>
                  <a:pt x="0" y="14120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495" y="396796"/>
            <a:ext cx="17079802" cy="334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01"/>
              </a:lnSpc>
            </a:pPr>
            <a:r>
              <a:rPr lang="en-US" b="true" sz="9711" spc="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FLUJO DE USUARIO DIFERENCIADO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93750" y="4054646"/>
            <a:ext cx="4528719" cy="571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</a:pPr>
            <a:r>
              <a:rPr lang="en-US" sz="33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Flujo del Jugador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38948" y="4316725"/>
            <a:ext cx="2506340" cy="50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Conclusión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916299" y="3746672"/>
            <a:ext cx="6067507" cy="1412074"/>
          </a:xfrm>
          <a:custGeom>
            <a:avLst/>
            <a:gdLst/>
            <a:ahLst/>
            <a:cxnLst/>
            <a:rect r="r" b="b" t="t" l="l"/>
            <a:pathLst>
              <a:path h="1412074" w="6067507">
                <a:moveTo>
                  <a:pt x="0" y="0"/>
                </a:moveTo>
                <a:lnTo>
                  <a:pt x="6067507" y="0"/>
                </a:lnTo>
                <a:lnTo>
                  <a:pt x="6067507" y="1412074"/>
                </a:lnTo>
                <a:lnTo>
                  <a:pt x="0" y="14120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04458" y="4133480"/>
            <a:ext cx="5691189" cy="571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9"/>
              </a:lnSpc>
            </a:pPr>
            <a:r>
              <a:rPr lang="en-US" sz="33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Flujo del Dueño de Cancha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6854" y="5092071"/>
            <a:ext cx="6427260" cy="469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890" indent="-319945" lvl="1">
              <a:lnSpc>
                <a:spcPts val="4149"/>
              </a:lnSpc>
              <a:buAutoNum type="arabicPeriod" startAt="1"/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Inici</a:t>
            </a: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o (HomeScreen): Ve partidos cercanos y accesos rápidos.</a:t>
            </a:r>
          </a:p>
          <a:p>
            <a:pPr algn="l" marL="639890" indent="-319945" lvl="1">
              <a:lnSpc>
                <a:spcPts val="4149"/>
              </a:lnSpc>
              <a:buAutoNum type="arabicPeriod" startAt="1"/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Búsqueda (SearchScreen): Filtra y encuentra partidos o torneos.</a:t>
            </a:r>
          </a:p>
          <a:p>
            <a:pPr algn="l" marL="639890" indent="-319945" lvl="1">
              <a:lnSpc>
                <a:spcPts val="4149"/>
              </a:lnSpc>
              <a:buAutoNum type="arabicPeriod" startAt="1"/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Detalle (MatchDetailScreen): Se une a un partido.</a:t>
            </a:r>
          </a:p>
          <a:p>
            <a:pPr algn="l" marL="639890" indent="-319945" lvl="1">
              <a:lnSpc>
                <a:spcPts val="4149"/>
              </a:lnSpc>
              <a:buAutoNum type="arabicPeriod" startAt="1"/>
            </a:pPr>
            <a:r>
              <a:rPr lang="en-US" sz="29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Perfil (ProfileScreen): Gestiona su perfil, equipos y estadísticas.</a:t>
            </a:r>
          </a:p>
          <a:p>
            <a:pPr algn="l">
              <a:lnSpc>
                <a:spcPts val="414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36422" y="5120646"/>
            <a:ext cx="6427260" cy="4690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943" indent="-265972" lvl="1">
              <a:lnSpc>
                <a:spcPts val="3449"/>
              </a:lnSpc>
              <a:buAutoNum type="arabicPeriod" startAt="1"/>
            </a:pPr>
            <a:r>
              <a:rPr lang="en-US" sz="24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Dashb</a:t>
            </a:r>
            <a:r>
              <a:rPr lang="en-US" sz="24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oard (OwnerDashboard): Visualiza estadísticas clave (ingresos, reservas, canchas).</a:t>
            </a:r>
          </a:p>
          <a:p>
            <a:pPr algn="l" marL="531943" indent="-265972" lvl="1">
              <a:lnSpc>
                <a:spcPts val="3449"/>
              </a:lnSpc>
              <a:buAutoNum type="arabicPeriod" startAt="1"/>
            </a:pPr>
            <a:r>
              <a:rPr lang="en-US" sz="24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G</a:t>
            </a:r>
            <a:r>
              <a:rPr lang="en-US" sz="24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estión de Canchas (AddCourtScreen): Agrega y configura sus canchas.</a:t>
            </a:r>
          </a:p>
          <a:p>
            <a:pPr algn="l" marL="531943" indent="-265972" lvl="1">
              <a:lnSpc>
                <a:spcPts val="3449"/>
              </a:lnSpc>
              <a:buAutoNum type="arabicPeriod" startAt="1"/>
            </a:pPr>
            <a:r>
              <a:rPr lang="en-US" sz="24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Gestión de Torneos (Proximamente): Crea y administra torneos exclusivos para su complejo.</a:t>
            </a:r>
          </a:p>
          <a:p>
            <a:pPr algn="l" marL="531943" indent="-265972" lvl="1">
              <a:lnSpc>
                <a:spcPts val="3449"/>
              </a:lnSpc>
              <a:buAutoNum type="arabicPeriod" startAt="1"/>
            </a:pPr>
            <a:r>
              <a:rPr lang="en-US" sz="2463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Perfil Empresarial (OwnerProfile): Gestiona la información de su negocio.</a:t>
            </a:r>
          </a:p>
          <a:p>
            <a:pPr algn="l">
              <a:lnSpc>
                <a:spcPts val="344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21150" y="0"/>
            <a:ext cx="6566850" cy="10287000"/>
          </a:xfrm>
          <a:custGeom>
            <a:avLst/>
            <a:gdLst/>
            <a:ahLst/>
            <a:cxnLst/>
            <a:rect r="r" b="b" t="t" l="l"/>
            <a:pathLst>
              <a:path h="10287000" w="6566850">
                <a:moveTo>
                  <a:pt x="0" y="0"/>
                </a:moveTo>
                <a:lnTo>
                  <a:pt x="6566850" y="0"/>
                </a:lnTo>
                <a:lnTo>
                  <a:pt x="65668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061" t="0" r="-6206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79494" y="3356907"/>
            <a:ext cx="0" cy="75069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-94048" y="6096155"/>
            <a:ext cx="4840212" cy="4767699"/>
          </a:xfrm>
          <a:custGeom>
            <a:avLst/>
            <a:gdLst/>
            <a:ahLst/>
            <a:cxnLst/>
            <a:rect r="r" b="b" t="t" l="l"/>
            <a:pathLst>
              <a:path h="4767699" w="4840212">
                <a:moveTo>
                  <a:pt x="4840212" y="4767699"/>
                </a:moveTo>
                <a:lnTo>
                  <a:pt x="0" y="4767699"/>
                </a:lnTo>
                <a:lnTo>
                  <a:pt x="0" y="0"/>
                </a:lnTo>
                <a:lnTo>
                  <a:pt x="4840212" y="0"/>
                </a:lnTo>
                <a:lnTo>
                  <a:pt x="4840212" y="476769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98544" y="-1180177"/>
            <a:ext cx="0" cy="26994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609798" y="-809683"/>
            <a:ext cx="4840212" cy="4767699"/>
          </a:xfrm>
          <a:custGeom>
            <a:avLst/>
            <a:gdLst/>
            <a:ahLst/>
            <a:cxnLst/>
            <a:rect r="r" b="b" t="t" l="l"/>
            <a:pathLst>
              <a:path h="4767699" w="4840212">
                <a:moveTo>
                  <a:pt x="0" y="0"/>
                </a:moveTo>
                <a:lnTo>
                  <a:pt x="4840211" y="0"/>
                </a:lnTo>
                <a:lnTo>
                  <a:pt x="4840211" y="4767699"/>
                </a:lnTo>
                <a:lnTo>
                  <a:pt x="0" y="4767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0813" y="558459"/>
            <a:ext cx="12095553" cy="127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6"/>
              </a:lnSpc>
            </a:pPr>
            <a:r>
              <a:rPr lang="en-US" b="true" sz="7483" spc="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FUTUROS PASOS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2080" y="2163858"/>
            <a:ext cx="10575534" cy="812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009" indent="-331005" lvl="1">
              <a:lnSpc>
                <a:spcPts val="4292"/>
              </a:lnSpc>
              <a:buFont typeface="Arial"/>
              <a:buChar char="•"/>
            </a:pPr>
            <a:r>
              <a:rPr lang="en-US" b="true" sz="3066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Sistema de Ranking y Ligas</a:t>
            </a:r>
            <a:r>
              <a:rPr lang="en-US" sz="306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: Desarrollar un sistema de ELO o puntos para jugadores y equipos.</a:t>
            </a:r>
          </a:p>
          <a:p>
            <a:pPr algn="l" marL="662009" indent="-331005" lvl="1">
              <a:lnSpc>
                <a:spcPts val="4292"/>
              </a:lnSpc>
              <a:buFont typeface="Arial"/>
              <a:buChar char="•"/>
            </a:pPr>
            <a:r>
              <a:rPr lang="en-US" b="true" sz="3066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Funciones Sociales Avanzadas</a:t>
            </a:r>
            <a:r>
              <a:rPr lang="en-US" sz="306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: Muro de actividades, seguimiento de amigos y logros.</a:t>
            </a:r>
          </a:p>
          <a:p>
            <a:pPr algn="l" marL="662009" indent="-331005" lvl="1">
              <a:lnSpc>
                <a:spcPts val="4292"/>
              </a:lnSpc>
              <a:buFont typeface="Arial"/>
              <a:buChar char="•"/>
            </a:pPr>
            <a:r>
              <a:rPr lang="en-US" b="true" sz="3066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Optimización y Rendimiento</a:t>
            </a:r>
            <a:r>
              <a:rPr lang="en-US" sz="306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: Implementar caché local con React Query y optimizar consultas a Firestore.</a:t>
            </a:r>
          </a:p>
          <a:p>
            <a:pPr algn="l" marL="662009" indent="-331005" lvl="1">
              <a:lnSpc>
                <a:spcPts val="4292"/>
              </a:lnSpc>
              <a:buFont typeface="Arial"/>
              <a:buChar char="•"/>
            </a:pPr>
            <a:r>
              <a:rPr lang="en-US" b="true" sz="3066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Cloud Functions</a:t>
            </a:r>
            <a:r>
              <a:rPr lang="en-US" sz="306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: Migrar lógica de negocio crítica (ej. validaciones de torneos) a funciones serverless para mayor seguridad y automatización.</a:t>
            </a:r>
          </a:p>
          <a:p>
            <a:pPr algn="l" marL="662009" indent="-331005" lvl="1">
              <a:lnSpc>
                <a:spcPts val="4292"/>
              </a:lnSpc>
              <a:buFont typeface="Arial"/>
              <a:buChar char="•"/>
            </a:pPr>
            <a:r>
              <a:rPr lang="en-US" b="true" sz="3066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Funcion de prioridad:</a:t>
            </a:r>
            <a:r>
              <a:rPr lang="en-US" sz="306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 Implementar una función para dar prioridad a los anuncios al crear un partido o un torneo por un pago.</a:t>
            </a:r>
          </a:p>
          <a:p>
            <a:pPr algn="l" marL="662009" indent="-331005" lvl="1">
              <a:lnSpc>
                <a:spcPts val="4292"/>
              </a:lnSpc>
              <a:buFont typeface="Arial"/>
              <a:buChar char="•"/>
            </a:pPr>
            <a:r>
              <a:rPr lang="en-US" b="true" sz="3066">
                <a:solidFill>
                  <a:srgbClr val="281C2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Agregar Torneos:</a:t>
            </a:r>
            <a:r>
              <a:rPr lang="en-US" sz="3066">
                <a:solidFill>
                  <a:srgbClr val="281C22"/>
                </a:solidFill>
                <a:latin typeface="Assistant"/>
                <a:ea typeface="Assistant"/>
                <a:cs typeface="Assistant"/>
                <a:sym typeface="Assistant"/>
              </a:rPr>
              <a:t> Implementar la función del crear torneos, modificarlos y eliminarlos.</a:t>
            </a:r>
          </a:p>
          <a:p>
            <a:pPr algn="l">
              <a:lnSpc>
                <a:spcPts val="429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65521" y="2566933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96556" y="586538"/>
            <a:ext cx="1029488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Demo CanchaAPP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39079" y="2843710"/>
            <a:ext cx="260984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CanchaAPP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5218318" y="1984971"/>
            <a:ext cx="12040982" cy="7925156"/>
          </a:xfrm>
          <a:custGeom>
            <a:avLst/>
            <a:gdLst/>
            <a:ahLst/>
            <a:cxnLst/>
            <a:rect r="r" b="b" t="t" l="l"/>
            <a:pathLst>
              <a:path h="7925156" w="12040982">
                <a:moveTo>
                  <a:pt x="12040982" y="0"/>
                </a:moveTo>
                <a:lnTo>
                  <a:pt x="0" y="0"/>
                </a:lnTo>
                <a:lnTo>
                  <a:pt x="0" y="7925156"/>
                </a:lnTo>
                <a:lnTo>
                  <a:pt x="12040982" y="7925156"/>
                </a:lnTo>
                <a:lnTo>
                  <a:pt x="120409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4187" y="1538258"/>
            <a:ext cx="10426189" cy="142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68"/>
              </a:lnSpc>
            </a:pPr>
            <a:r>
              <a:rPr lang="en-US" b="true" sz="8382" spc="8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MUCHAS GRACIAS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4187" y="2891144"/>
            <a:ext cx="7807906" cy="73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8"/>
              </a:lnSpc>
            </a:pPr>
            <a:r>
              <a:rPr lang="en-US" sz="4339" spc="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¿Tienes alguna pregunta?</a:t>
            </a:r>
          </a:p>
        </p:txBody>
      </p:sp>
      <p:sp>
        <p:nvSpPr>
          <p:cNvPr name="AutoShape 5" id="5"/>
          <p:cNvSpPr/>
          <p:nvPr/>
        </p:nvSpPr>
        <p:spPr>
          <a:xfrm rot="5400000">
            <a:off x="-70614" y="7733470"/>
            <a:ext cx="750694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400000">
            <a:off x="2380782" y="-19050"/>
            <a:ext cx="269940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DAG2ASJJMAE</dc:identifier>
  <dcterms:modified xsi:type="dcterms:W3CDTF">2011-08-01T06:04:30Z</dcterms:modified>
  <cp:revision>1</cp:revision>
  <dc:title>CanchaAPP</dc:title>
</cp:coreProperties>
</file>